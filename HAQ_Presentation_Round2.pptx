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q-logo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3474720" cy="17527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9260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India's First Multimodal Civic AI &amp; Deterministic Kiosk Shield</a:t>
            </a:r>
          </a:p>
          <a:p>
            <a:pPr>
              <a:spcBef>
                <a:spcPts val="1200"/>
              </a:spcBef>
              <a:defRPr sz="1600" i="1">
                <a:solidFill>
                  <a:srgbClr val="34B69E"/>
                </a:solidFill>
              </a:defRPr>
            </a:pPr>
            <a:r>
              <a:t>"Official Government Rules, Made Usable. Know the Rule. Audit the Reality. Claim Your Rights."</a:t>
            </a:r>
          </a:p>
          <a:p>
            <a:pPr>
              <a:spcBef>
                <a:spcPts val="2400"/>
              </a:spcBef>
              <a:defRPr sz="1200" b="1">
                <a:solidFill>
                  <a:srgbClr val="FFC857"/>
                </a:solidFill>
              </a:defRPr>
            </a:pPr>
            <a:r>
              <a:t>BUILD THE AI FOR YOU 2026 (Craftora)  •  ROUND 2 BUILD SPRINT</a:t>
            </a:r>
          </a:p>
          <a:p>
            <a:pPr>
              <a:spcBef>
                <a:spcPts val="800"/>
              </a:spcBef>
              <a:defRPr sz="1200">
                <a:solidFill>
                  <a:srgbClr val="A5A8C3"/>
                </a:solidFill>
              </a:defRPr>
            </a:pPr>
            <a:r>
              <a:t>Team PreetIQ: Pritam Bairwa (Lead &amp; Architect)  |  Sonali Agarwal  |  Vikas Bairwa</a:t>
            </a:r>
            <a:br/>
            <a:r>
              <a:t>Live GitHub Repository: https://github.com/pritam088/HAQ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B69E"/>
                </a:solidFill>
              </a:defRPr>
            </a:pPr>
            <a:r>
              <a:t>01 • THE PROBLEM &amp; REALITY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The Silent $10 Billion Kiosk Overcharging Crisis</a:t>
            </a:r>
          </a:p>
          <a:p>
            <a:pPr>
              <a:spcBef>
                <a:spcPts val="200"/>
              </a:spcBef>
              <a:defRPr sz="1300">
                <a:solidFill>
                  <a:srgbClr val="A5A8C3"/>
                </a:solidFill>
              </a:defRPr>
            </a:pPr>
            <a:r>
              <a:t>Over 800M+ citizens visit CSC and e-Mitra kiosks for vital public services, facing systemic extortion.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26B6B"/>
                </a:solidFill>
              </a:defRPr>
            </a:pPr>
            <a:r>
              <a:t>🚨 Severe Information Asymmetry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Statutory limit for Caste/Income certificates is strictly ₹100.</a:t>
            </a:r>
            <a:br/>
            <a:r>
              <a:t>Kiosks routinely extort ₹250 to ₹500 from rural citizens citing 'urgent tatkal charges' (+250% overcharge).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920240"/>
            <a:ext cx="3383280" cy="411480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19456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857"/>
                </a:solidFill>
              </a:defRPr>
            </a:pPr>
            <a:r>
              <a:t>🚫 Form 33 Receipt Violations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Operators collect cash without providing the mandatory 16-digit e-Mitra computer token receipt. Handwritten or verbal cash leaves citizens powerless.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920240"/>
            <a:ext cx="3383280" cy="411480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D3FD6"/>
                </a:solidFill>
              </a:defRPr>
            </a:pPr>
            <a:r>
              <a:t>👥 Fear &amp; Middleman Dependence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Rural citizens fear hostility from local operators and cannot comprehend dense English gazette circulars. Middlemen capitalize on this illiteracy.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B69E"/>
                </a:solidFill>
              </a:defRPr>
            </a:pPr>
            <a:r>
              <a:t>02 • THE TRANSFORMATION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The Broken Citizen Journey vs. The HAQ Shield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1E0A14"/>
          </a:solidFill>
          <a:ln w="19050">
            <a:solidFill>
              <a:srgbClr val="F2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26B6B"/>
                </a:solidFill>
              </a:defRPr>
            </a:pPr>
            <a:r>
              <a:t>❌ THE BROKEN STATUS QUO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1. Citizen visits kiosk for Caste Certificate (Jati Praman Patra).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2. Operator demands ₹350 in cash under pretext of 'tatkal babu charges'.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3. Kiosk hands over a fake handwritten slip without a Form 33 token.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4. Citizen is unable to verify statutory government rate.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5. Result: ₹250 illegally pocketed with zero accountability.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297680"/>
          </a:xfrm>
          <a:prstGeom prst="roundRect">
            <a:avLst/>
          </a:prstGeom>
          <a:solidFill>
            <a:srgbClr val="051E1E"/>
          </a:solidFill>
          <a:ln w="19050">
            <a:solidFill>
              <a:srgbClr val="34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10312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B69E"/>
                </a:solidFill>
              </a:defRPr>
            </a:pPr>
            <a:r>
              <a:t>🛡️ THE HAQ SHIELD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1. Citizen snaps slip photo or speaks in Hindi: 'मुझसे ₹350 लिए बिना रसीद के'.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2. Gemini Multimodal Vision &amp; Deterministic Engine audits in 1 second.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3. Instant Finding: Statutory Fee is ₹100. ₹250 is an ILLEGAL SURCHARGE.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4. Auto-detects missing Form 33 token; flags Clause 12 ₹5,000 kiosk penalty.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5. 1-Click Action: Printable SDO Legal Notice, 181 Sampark Draft &amp; WhatsApp alert.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B69E"/>
                </a:solidFill>
              </a:defRPr>
            </a:pPr>
            <a:r>
              <a:t>03 • TECHNICAL ARCHITECTURE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Zero-Hallucination Pipeline &amp; Deterministic Law Engine</a:t>
            </a:r>
          </a:p>
          <a:p>
            <a:pPr>
              <a:spcBef>
                <a:spcPts val="200"/>
              </a:spcBef>
              <a:defRPr sz="1300">
                <a:solidFill>
                  <a:srgbClr val="A5A8C3"/>
                </a:solidFill>
              </a:defRPr>
            </a:pPr>
            <a:r>
              <a:t>Mathematical fee calculations are 100% deterministic code. Generative AI is used strictly for perception &amp; explanation.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57400" cy="402336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1783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D3FD6"/>
                </a:solidFill>
              </a:defRPr>
            </a:pPr>
            <a:r>
              <a:t>1. Citizen Input</a:t>
            </a:r>
          </a:p>
          <a:p>
            <a:pPr>
              <a:spcBef>
                <a:spcPts val="1200"/>
              </a:spcBef>
              <a:defRPr sz="1150">
                <a:solidFill>
                  <a:srgbClr val="FFFFFF"/>
                </a:solidFill>
              </a:defRPr>
            </a:pPr>
            <a:r>
              <a:t>Thermal / handwritten slip photo or Hindi voice query via Web Speech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9504" y="2011680"/>
            <a:ext cx="2057400" cy="402336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26664" y="2286000"/>
            <a:ext cx="1783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B69E"/>
                </a:solidFill>
              </a:defRPr>
            </a:pPr>
            <a:r>
              <a:t>2. Gemini 3.5 Flash</a:t>
            </a:r>
          </a:p>
          <a:p>
            <a:pPr>
              <a:spcBef>
                <a:spcPts val="1200"/>
              </a:spcBef>
              <a:defRPr sz="1150">
                <a:solidFill>
                  <a:srgbClr val="FFFFFF"/>
                </a:solidFill>
              </a:defRPr>
            </a:pPr>
            <a:r>
              <a:t>Multimodal Vision extracts service name, rupees paid, token, and kiosk 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7488" y="2011680"/>
            <a:ext cx="2057400" cy="402336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84648" y="2286000"/>
            <a:ext cx="1783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C857"/>
                </a:solidFill>
              </a:defRPr>
            </a:pPr>
            <a:r>
              <a:t>3. Gazette Engine</a:t>
            </a:r>
          </a:p>
          <a:p>
            <a:pPr>
              <a:spcBef>
                <a:spcPts val="1200"/>
              </a:spcBef>
              <a:defRPr sz="1150">
                <a:solidFill>
                  <a:srgbClr val="FFFFFF"/>
                </a:solidFill>
              </a:defRPr>
            </a:pPr>
            <a:r>
              <a:t>Deterministic arithmetic matching DoIT&amp;C Notification F1(23)/DoIT/Tech/11.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5472" y="2011680"/>
            <a:ext cx="2057400" cy="402336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42632" y="2286000"/>
            <a:ext cx="1783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B69E"/>
                </a:solidFill>
              </a:defRPr>
            </a:pPr>
            <a:r>
              <a:t>4. Citizen Redressal</a:t>
            </a:r>
          </a:p>
          <a:p>
            <a:pPr>
              <a:spcBef>
                <a:spcPts val="1200"/>
              </a:spcBef>
              <a:defRPr sz="1150">
                <a:solidFill>
                  <a:srgbClr val="FFFFFF"/>
                </a:solidFill>
              </a:defRPr>
            </a:pPr>
            <a:r>
              <a:t>Instant SDO Legal Notice, Rajasthan Sampark 181 draft, and direct SSO bypass.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63456" y="2011680"/>
            <a:ext cx="2057400" cy="402336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0616" y="2286000"/>
            <a:ext cx="1783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D3FD6"/>
                </a:solidFill>
              </a:defRPr>
            </a:pPr>
            <a:r>
              <a:t>5. Supabase Sync</a:t>
            </a:r>
          </a:p>
          <a:p>
            <a:pPr>
              <a:spcBef>
                <a:spcPts val="1200"/>
              </a:spcBef>
              <a:defRPr sz="1150">
                <a:solidFill>
                  <a:srgbClr val="FFFFFF"/>
                </a:solidFill>
              </a:defRPr>
            </a:pPr>
            <a:r>
              <a:t>Cloud intelligence sync + localStorage offline resilient cache (Zero Crashes).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B69E"/>
                </a:solidFill>
              </a:defRPr>
            </a:pPr>
            <a:r>
              <a:t>04 • LIVE CAPABILITIES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4 Groundbreaking Innovations Built for Round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212080" cy="205740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B69E"/>
                </a:solidFill>
              </a:defRPr>
            </a:pPr>
            <a:r>
              <a:t>📷 Multimodal Receipt OCR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Visual inspection of kiosk thermal slips and handwritten vouchers. Identifies 16-digit Form 33 computer tokens and flags counterfeit handwritten slips.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920240"/>
            <a:ext cx="5212080" cy="205740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488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D3FD6"/>
                </a:solidFill>
              </a:defRPr>
            </a:pPr>
            <a:r>
              <a:t>🎙️ Hindi Voice In &amp; Audio Out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Designed for rural citizens who cannot type English. Native speech recognition ('बोलकर बताएं') and Hindi speech synthesis ('सुनकर समझें') for 100% accessibility.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5212080" cy="205740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891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857"/>
                </a:solidFill>
              </a:defRPr>
            </a:pPr>
            <a:r>
              <a:t>⚖️ Printable Legal Notice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1-click generation of formal representation under Section 7 of Rajasthan Act 2011 for Joint Director (DoIT&amp;C) and District Collector DeGS inquiry.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160520"/>
            <a:ext cx="5212080" cy="205740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3891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B69E"/>
                </a:solidFill>
              </a:defRPr>
            </a:pPr>
            <a:r>
              <a:t>🤖 Hak Saathi (हक साथी) AI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Context-aware bilingual legal copilot powered by Gemini 3.5 Flash. Delivers bold, citation-backed answers on eMitra rights without bureaucratic jargon.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B69E"/>
                </a:solidFill>
              </a:defRPr>
            </a:pPr>
            <a:r>
              <a:t>05 • GROUNDED STATE SERVICES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Officially Notified Rates &amp; Guaranteed Timelines</a:t>
            </a:r>
          </a:p>
          <a:p>
            <a:pPr>
              <a:spcBef>
                <a:spcPts val="200"/>
              </a:spcBef>
              <a:defRPr sz="1300">
                <a:solidFill>
                  <a:srgbClr val="A5A8C3"/>
                </a:solidFill>
              </a:defRPr>
            </a:pPr>
            <a:r>
              <a:t>Grounded in Rajasthan Guaranteed Delivery of Public Services Act 2011 &amp; DoIT&amp;C Rate Notification F1(23)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920240"/>
          <a:ext cx="1072591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286000"/>
                <a:gridCol w="2286000"/>
                <a:gridCol w="2862072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Service Name</a:t>
                      </a:r>
                    </a:p>
                  </a:txBody>
                  <a:tcPr>
                    <a:solidFill>
                      <a:srgbClr val="6D3F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Max Authorized Fee</a:t>
                      </a:r>
                    </a:p>
                  </a:txBody>
                  <a:tcPr>
                    <a:solidFill>
                      <a:srgbClr val="6D3F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Statutory Delivery</a:t>
                      </a:r>
                    </a:p>
                  </a:txBody>
                  <a:tcPr>
                    <a:solidFill>
                      <a:srgbClr val="6D3F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Regulatory Legal Source</a:t>
                      </a:r>
                    </a:p>
                  </a:txBody>
                  <a:tcPr>
                    <a:solidFill>
                      <a:srgbClr val="6D3FD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Caste Certificate (जाति प्रमाण पत्र)</a:t>
                      </a:r>
                    </a:p>
                  </a:txBody>
                  <a:tcPr>
                    <a:solidFill>
                      <a:srgbClr val="0F0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B69E"/>
                          </a:solidFill>
                        </a:defRPr>
                      </a:pPr>
                      <a:r>
                        <a:t>₹100 (₹40 Govt + ₹50 Kiosk + ₹10 Print)</a:t>
                      </a:r>
                    </a:p>
                  </a:txBody>
                  <a:tcPr>
                    <a:solidFill>
                      <a:srgbClr val="0F0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15 Working Days</a:t>
                      </a:r>
                    </a:p>
                  </a:txBody>
                  <a:tcPr>
                    <a:solidFill>
                      <a:srgbClr val="0F0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DoIT&amp;C Gazette F1(23)</a:t>
                      </a:r>
                    </a:p>
                  </a:txBody>
                  <a:tcPr>
                    <a:solidFill>
                      <a:srgbClr val="0F0F3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Income Certificate (आय प्रमाण पत्र)</a:t>
                      </a:r>
                    </a:p>
                  </a:txBody>
                  <a:tcPr>
                    <a:solidFill>
                      <a:srgbClr val="1616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B69E"/>
                          </a:solidFill>
                        </a:defRPr>
                      </a:pPr>
                      <a:r>
                        <a:t>₹100 (₹40 Govt + ₹50 Kiosk + ₹10 Print)</a:t>
                      </a:r>
                    </a:p>
                  </a:txBody>
                  <a:tcPr>
                    <a:solidFill>
                      <a:srgbClr val="1616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10 Working Days</a:t>
                      </a:r>
                    </a:p>
                  </a:txBody>
                  <a:tcPr>
                    <a:solidFill>
                      <a:srgbClr val="1616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Revenue Dept Circular</a:t>
                      </a:r>
                    </a:p>
                  </a:txBody>
                  <a:tcPr>
                    <a:solidFill>
                      <a:srgbClr val="16164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Domicile Certificate (मूल निवास)</a:t>
                      </a:r>
                    </a:p>
                  </a:txBody>
                  <a:tcPr>
                    <a:solidFill>
                      <a:srgbClr val="0F0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B69E"/>
                          </a:solidFill>
                        </a:defRPr>
                      </a:pPr>
                      <a:r>
                        <a:t>₹100 (₹40 Govt + ₹50 Kiosk + ₹10 Print)</a:t>
                      </a:r>
                    </a:p>
                  </a:txBody>
                  <a:tcPr>
                    <a:solidFill>
                      <a:srgbClr val="0F0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15 Calendar Days</a:t>
                      </a:r>
                    </a:p>
                  </a:txBody>
                  <a:tcPr>
                    <a:solidFill>
                      <a:srgbClr val="0F0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Public Service Act 2011</a:t>
                      </a:r>
                    </a:p>
                  </a:txBody>
                  <a:tcPr>
                    <a:solidFill>
                      <a:srgbClr val="0F0F3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Ration Card Addition (खाद्य सुरक्षा)</a:t>
                      </a:r>
                    </a:p>
                  </a:txBody>
                  <a:tcPr>
                    <a:solidFill>
                      <a:srgbClr val="1616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B69E"/>
                          </a:solidFill>
                        </a:defRPr>
                      </a:pPr>
                      <a:r>
                        <a:t>₹100 (₹50 Govt + ₹50 Kiosk Fee)</a:t>
                      </a:r>
                    </a:p>
                  </a:txBody>
                  <a:tcPr>
                    <a:solidFill>
                      <a:srgbClr val="1616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30 Calendar Days</a:t>
                      </a:r>
                    </a:p>
                  </a:txBody>
                  <a:tcPr>
                    <a:solidFill>
                      <a:srgbClr val="1616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Food &amp; Civil Supplies Order</a:t>
                      </a:r>
                    </a:p>
                  </a:txBody>
                  <a:tcPr>
                    <a:solidFill>
                      <a:srgbClr val="16164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Jamabandi Land Records (जमाबंदी नकल)</a:t>
                      </a:r>
                    </a:p>
                  </a:txBody>
                  <a:tcPr>
                    <a:solidFill>
                      <a:srgbClr val="0F0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B69E"/>
                          </a:solidFill>
                        </a:defRPr>
                      </a:pPr>
                      <a:r>
                        <a:t>₹50 (₹20 Govt + ₹30 Kiosk Fee)</a:t>
                      </a:r>
                    </a:p>
                  </a:txBody>
                  <a:tcPr>
                    <a:solidFill>
                      <a:srgbClr val="0F0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Same Day Delivery</a:t>
                      </a:r>
                    </a:p>
                  </a:txBody>
                  <a:tcPr>
                    <a:solidFill>
                      <a:srgbClr val="0F0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Apna Khata Bhulekh Order</a:t>
                      </a:r>
                    </a:p>
                  </a:txBody>
                  <a:tcPr>
                    <a:solidFill>
                      <a:srgbClr val="0F0F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B69E"/>
                </a:solidFill>
              </a:defRPr>
            </a:pPr>
            <a:r>
              <a:t>06 • VERIFICATION SCENARIOS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3 Interactive Test Cases Built for Hackathon Evaluation</a:t>
            </a:r>
          </a:p>
          <a:p>
            <a:pPr>
              <a:spcBef>
                <a:spcPts val="200"/>
              </a:spcBef>
              <a:defRPr sz="1300">
                <a:solidFill>
                  <a:srgbClr val="A5A8C3"/>
                </a:solidFill>
              </a:defRPr>
            </a:pPr>
            <a:r>
              <a:t>Evaluators can test realistic kiosk scenarios in 1 click at /payments/check with zero configuration.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420624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26B6B"/>
                </a:solidFill>
              </a:defRPr>
            </a:pPr>
            <a:r>
              <a:t>🚨 Scenario A: High Overcharge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</a:defRPr>
            </a:pPr>
            <a:r>
              <a:t>Input: ₹350 charged for Income Certificate (No Receipt).</a:t>
            </a:r>
            <a:br/>
            <a:br/>
            <a:r>
              <a:t>• HAQ Detection: Maximum statutory fee is ₹100.</a:t>
            </a:r>
            <a:br/>
            <a:r>
              <a:t>• Result: ₹250 Illegal Overcharge flagged.</a:t>
            </a:r>
            <a:br/>
            <a:r>
              <a:t>• Finding: Form 33 Violation detected.</a:t>
            </a:r>
            <a:br/>
            <a:r>
              <a:t>• Enforcement: Triggers Clause 12 ₹5,000 regulatory penalty notice for SDO inquiry.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920240"/>
            <a:ext cx="3383280" cy="420624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214884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C857"/>
                </a:solidFill>
              </a:defRPr>
            </a:pPr>
            <a:r>
              <a:t>⚠️ Scenario B: Handwritten Slip Trap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</a:defRPr>
            </a:pPr>
            <a:r>
              <a:t>Input: ₹200 charged for Caste Certificate with handwritten paper slip.</a:t>
            </a:r>
            <a:br/>
            <a:br/>
            <a:r>
              <a:t>• HAQ Detection: ₹100 statutory rate.</a:t>
            </a:r>
            <a:br/>
            <a:r>
              <a:t>• Result: ₹100 unauthorized difference.</a:t>
            </a:r>
            <a:br/>
            <a:r>
              <a:t>• Finding: Non-compliant manual slip (no 16-digit eMitra token).</a:t>
            </a:r>
            <a:br/>
            <a:r>
              <a:t>• Enforcement: Drafts Rajasthan Sampark 181 grievance.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920240"/>
            <a:ext cx="3383280" cy="420624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14884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B69E"/>
                </a:solidFill>
              </a:defRPr>
            </a:pPr>
            <a:r>
              <a:t>✅ Scenario C: Fully Compliant Kiosk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</a:defRPr>
            </a:pPr>
            <a:r>
              <a:t>Input: Paid exact ₹100 with official computerized Form 33 receipt.</a:t>
            </a:r>
            <a:br/>
            <a:br/>
            <a:r>
              <a:t>• HAQ Detection: Fee matches official gazette.</a:t>
            </a:r>
            <a:br/>
            <a:r>
              <a:t>• Result: ₹0 Overcharge.</a:t>
            </a:r>
            <a:br/>
            <a:r>
              <a:t>• Finding: 100% compliant eMitra kiosk.</a:t>
            </a:r>
            <a:br/>
            <a:r>
              <a:t>• Enforcement: Issues verified audit certificate.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B69E"/>
                </a:solidFill>
              </a:defRPr>
            </a:pPr>
            <a:r>
              <a:t>07 • TECHNICAL EXECUTION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Enterprise-Grade Architecture &amp; 24 Automated Tests</a:t>
            </a:r>
          </a:p>
          <a:p>
            <a:pPr>
              <a:spcBef>
                <a:spcPts val="200"/>
              </a:spcBef>
              <a:defRPr sz="1300">
                <a:solidFill>
                  <a:srgbClr val="A5A8C3"/>
                </a:solidFill>
              </a:defRPr>
            </a:pPr>
            <a:r>
              <a:t>Evaluating Pillar 2: Technical Execution, Stability &amp; Zero-Crash Fallbacks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212080" cy="205740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D3FD6"/>
                </a:solidFill>
              </a:defRPr>
            </a:pPr>
            <a:r>
              <a:t>Next.js 16.4 (Turbopack)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Full static generation (25/25 pages compiled with 0 errors), partial prefetching, sub-second routing.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920240"/>
            <a:ext cx="5212080" cy="205740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488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B69E"/>
                </a:solidFill>
              </a:defRPr>
            </a:pPr>
            <a:r>
              <a:t>24 Vitest Unit Tests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100% test passing rate covering arithmetic edge cases, working days calculations, and penalty triggers.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5212080" cy="205740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891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857"/>
                </a:solidFill>
              </a:defRPr>
            </a:pPr>
            <a:r>
              <a:t>Supabase Cloud Sync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Live PostgreSQL cloud database with seamless offline fallback to localStorage. App never crashes.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160520"/>
            <a:ext cx="5212080" cy="205740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3891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B69E"/>
                </a:solidFill>
              </a:defRPr>
            </a:pPr>
            <a:r>
              <a:t>Gemini 3.5 Flash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Latest high-speed multimodal vision model for slip OCR and natural language civic guidance.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B69E"/>
                </a:solidFill>
              </a:defRPr>
            </a:pPr>
            <a:r>
              <a:t>08 • SOCIAL IMPACT &amp; SCALE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Protecting 80M Citizens &amp; Aligning with UN SDG 16</a:t>
            </a:r>
          </a:p>
          <a:p>
            <a:pPr>
              <a:spcBef>
                <a:spcPts val="200"/>
              </a:spcBef>
              <a:defRPr sz="1300">
                <a:solidFill>
                  <a:srgbClr val="A5A8C3"/>
                </a:solidFill>
              </a:defRPr>
            </a:pPr>
            <a:r>
              <a:t>Evaluating Pillar 1: Real-World Significance, Scale, and Systemic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560320" cy="411480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B69E"/>
                </a:solidFill>
              </a:defRPr>
            </a:pPr>
            <a:r>
              <a:t>80,000+</a:t>
            </a:r>
          </a:p>
          <a:p>
            <a:pPr>
              <a:spcBef>
                <a:spcPts val="1400"/>
              </a:spcBef>
              <a:defRPr sz="1250">
                <a:solidFill>
                  <a:srgbClr val="FFFFFF"/>
                </a:solidFill>
              </a:defRPr>
            </a:pPr>
            <a:r>
              <a:t>Kiosks in Rajasthan alone where HAQ can directly audit and eliminate predatory charges.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920240"/>
            <a:ext cx="2560320" cy="411480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21945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C857"/>
                </a:solidFill>
              </a:defRPr>
            </a:pPr>
            <a:r>
              <a:t>₹4,800 Cr</a:t>
            </a:r>
          </a:p>
          <a:p>
            <a:pPr>
              <a:spcBef>
                <a:spcPts val="1400"/>
              </a:spcBef>
              <a:defRPr sz="1250">
                <a:solidFill>
                  <a:srgbClr val="FFFFFF"/>
                </a:solidFill>
              </a:defRPr>
            </a:pPr>
            <a:r>
              <a:t>Estimated annual citizen savings protected from illegal surcharges and fake urgency fees.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920240"/>
            <a:ext cx="2560320" cy="411480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1945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D3FD6"/>
                </a:solidFill>
              </a:defRPr>
            </a:pPr>
            <a:r>
              <a:t>SDG 16.5</a:t>
            </a:r>
          </a:p>
          <a:p>
            <a:pPr>
              <a:spcBef>
                <a:spcPts val="1400"/>
              </a:spcBef>
              <a:defRPr sz="1250">
                <a:solidFill>
                  <a:srgbClr val="FFFFFF"/>
                </a:solidFill>
              </a:defRPr>
            </a:pPr>
            <a:r>
              <a:t>Substantially reduce corruption and bribery in all their forms through public fee transparency.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920240"/>
            <a:ext cx="2560320" cy="411480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1945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B69E"/>
                </a:solidFill>
              </a:defRPr>
            </a:pPr>
            <a:r>
              <a:t>Pan-India CSC</a:t>
            </a:r>
          </a:p>
          <a:p>
            <a:pPr>
              <a:spcBef>
                <a:spcPts val="1400"/>
              </a:spcBef>
              <a:defRPr sz="1250">
                <a:solidFill>
                  <a:srgbClr val="FFFFFF"/>
                </a:solidFill>
              </a:defRPr>
            </a:pPr>
            <a:r>
              <a:t>Extensible architecture ready to onboard 500,000+ Common Service Centres across 28 states.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B69E"/>
                </a:solidFill>
              </a:defRPr>
            </a:pPr>
            <a:r>
              <a:t>09 • TEAM &amp; VISION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Team PreetIQ: Why HAQ Wins Build The AI For YOU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228600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Pritam Bairwa</a:t>
            </a:r>
          </a:p>
          <a:p>
            <a:pPr>
              <a:spcBef>
                <a:spcPts val="400"/>
              </a:spcBef>
              <a:defRPr sz="1300" b="1">
                <a:solidFill>
                  <a:srgbClr val="34B69E"/>
                </a:solidFill>
              </a:defRPr>
            </a:pPr>
            <a:r>
              <a:t>Team Leader &amp; Architect</a:t>
            </a:r>
          </a:p>
          <a:p>
            <a:pPr>
              <a:spcBef>
                <a:spcPts val="600"/>
              </a:spcBef>
              <a:defRPr sz="1100">
                <a:solidFill>
                  <a:srgbClr val="A5A8C3"/>
                </a:solidFill>
              </a:defRPr>
            </a:pPr>
            <a:r>
              <a:t>Next.js 16, Gemini Multimodal Vision, Voice AI &amp; Full-Stack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920240"/>
            <a:ext cx="3383280" cy="228600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1488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Sonali Agarwal</a:t>
            </a:r>
          </a:p>
          <a:p>
            <a:pPr>
              <a:spcBef>
                <a:spcPts val="400"/>
              </a:spcBef>
              <a:defRPr sz="1300" b="1">
                <a:solidFill>
                  <a:srgbClr val="34B69E"/>
                </a:solidFill>
              </a:defRPr>
            </a:pPr>
            <a:r>
              <a:t>Product Strategy</a:t>
            </a:r>
          </a:p>
          <a:p>
            <a:pPr>
              <a:spcBef>
                <a:spcPts val="600"/>
              </a:spcBef>
              <a:defRPr sz="1100">
                <a:solidFill>
                  <a:srgbClr val="A5A8C3"/>
                </a:solidFill>
              </a:defRPr>
            </a:pPr>
            <a:r>
              <a:t>Citizen UX Research, Ground-Truth Validation &amp; Grievance Flow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920240"/>
            <a:ext cx="3383280" cy="228600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28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1488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Vikas Bairwa</a:t>
            </a:r>
          </a:p>
          <a:p>
            <a:pPr>
              <a:spcBef>
                <a:spcPts val="400"/>
              </a:spcBef>
              <a:defRPr sz="1300" b="1">
                <a:solidFill>
                  <a:srgbClr val="34B69E"/>
                </a:solidFill>
              </a:defRPr>
            </a:pPr>
            <a:r>
              <a:t>Legal Data Engineering</a:t>
            </a:r>
          </a:p>
          <a:p>
            <a:pPr>
              <a:spcBef>
                <a:spcPts val="600"/>
              </a:spcBef>
              <a:defRPr sz="1100">
                <a:solidFill>
                  <a:srgbClr val="A5A8C3"/>
                </a:solidFill>
              </a:defRPr>
            </a:pPr>
            <a:r>
              <a:t>DoIT&amp;C Gazette Digitization, Act 2011 Timeline Rules &amp; Case Mapping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10725912" cy="1645920"/>
          </a:xfrm>
          <a:prstGeom prst="roundRect">
            <a:avLst/>
          </a:prstGeom>
          <a:solidFill>
            <a:srgbClr val="0F0F3D"/>
          </a:solidFill>
          <a:ln w="19050">
            <a:solidFill>
              <a:srgbClr val="6D3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6634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1">
                <a:solidFill>
                  <a:srgbClr val="FFC857"/>
                </a:solidFill>
              </a:defRPr>
            </a:pPr>
            <a:r>
              <a:t>"When citizens know the rule, corruption loses its power. HAQ is every citizen's digital right."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100% Functional MVP • Grounded in Official Rajasthan Law • 24 Automated Tests • Ready for Statewide Citizen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